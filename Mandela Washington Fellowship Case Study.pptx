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4D015B7-6A44-62E0-C10D-FD8FE05FF59A}">
          <p14:sldIdLst>
            <p14:sldId id="256"/>
          </p14:sldIdLst>
        </p14:section>
        <p14:section name="Program" id="{76198EA1-9688-6DD2-626F-8AD0DC8E6BED}">
          <p14:sldIdLst>
            <p14:sldId id="257"/>
            <p14:sldId id="258"/>
          </p14:sldIdLst>
        </p14:section>
        <p14:section name="Delivery" id="{08E4CD1D-ABCA-F43A-581A-C31C43DE183F}">
          <p14:sldIdLst>
            <p14:sldId id="259"/>
            <p14:sldId id="260"/>
            <p14:sldId id="261"/>
            <p14:sldId id="262"/>
            <p14:sldId id="264"/>
          </p14:sldIdLst>
        </p14:section>
        <p14:section name="Wrap-up" id="{DBE4D902-E79D-336A-AAA2-25038F70A2A2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0B3C49"/>
                </a:solidFill>
                <a:latin typeface="+mn-lt"/>
              </a:rPr>
              <a:t>Fellows supported per cycle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Fellows supported</c:v>
                </c:pt>
              </c:strCache>
            </c:strRef>
          </c:tx>
          <c:spPr>
            <a:solidFill>
              <a:srgbClr val="5B8C8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ECF-0F4A-B14B-422904B2444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ECF-0F4A-B14B-422904B24445}"/>
              </c:ext>
            </c:extLst>
          </c:dPt>
          <c:dPt>
            <c:idx val="2"/>
            <c:invertIfNegative val="0"/>
            <c:bubble3D val="0"/>
            <c:spPr>
              <a:solidFill>
                <a:srgbClr val="E9A2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ECF-0F4A-B14B-422904B2444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0B3C49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Cycle 1</c:v>
                </c:pt>
                <c:pt idx="1">
                  <c:v>Cycle 2</c:v>
                </c:pt>
                <c:pt idx="2">
                  <c:v>Cycle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ECF-0F4A-B14B-422904B244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022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4993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Portfolio case study based on Agnes Iwaye’s first-person account. BDI = Bobby Dodd Institute. Cycle years, actual costs and Fellow nationalities were not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https://www.mandelawashingtonfellowship.org/ and https://www.mandelawashingtonfellowship.org/about/ (accessed October 5, 2026). BDI scope: Agnes Iwaye’s supplied account. Program-wide figures do not describe the nationalities of BDI’s five Fellows.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Agnes Iwaye’s supplied account of her BDI Fellowship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Agnes Iwaye’s supplied account of her BDI Fellowship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Agnes Iwaye’s supplied account of her BDI Fellowship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Agnes Iwaye’s supplied account of her BDI Fellowship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planning model, not historical BDI dates. Sources: https://www.mandelawashingtonfellowship.org/about/ and https://www.mandelawashingtonfellowship.org/2025/06/23/2025-mandela-washington-fellows-arrive-in-the-united-states/ . The general overview allows PDEs up to six weeks. The 2025 announcement specifies four weeks. Leadership Institutes are a separate six-week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operating controls for a future hosting cycle. These are portfolio planning examples, not assertions that Agnes used these exact documents or practices historically.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Agnes Iwaye’s supplied account of her BDI Fellowship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accessed October 5, 2026: https://www.mandelawashingtonfellowship.org/ ; https://www.mandelawashingtonfellowship.org/about/ ; https://www.mandelawashingtonfellowship.org/pde/ ; https://www.mandelawashingtonfellowship.org/2025/06/23/2025-mandela-washington-fellows-arrive-in-the-united-states/ . All project-specific evidence comes from Agnes Iwaye’s supplied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53035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880360"/>
            <a:ext cx="51206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ndelawashingtonfellowship.org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mandelawashingtonfellowship.org/2025/06/23/2025-mandela-washington-fellows-arrive-in-the-united-states/" TargetMode="External"/><Relationship Id="rId5" Type="http://schemas.openxmlformats.org/officeDocument/2006/relationships/hyperlink" Target="https://www.mandelawashingtonfellowship.org/pde/" TargetMode="External"/><Relationship Id="rId4" Type="http://schemas.openxmlformats.org/officeDocument/2006/relationships/hyperlink" Target="https://www.mandelawashingtonfellowship.org/abou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777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2"/>
                </a:solidFill>
              </a:rPr>
              <a:t>INTERNATIONAL PROGRAM MANAGEMENT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Mandela Washington Fellowship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880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Bobby Dodd Institute in partnership with IREX</a:t>
            </a:r>
            <a:endParaRPr lang="en-US" sz="1800" dirty="0"/>
          </a:p>
        </p:txBody>
      </p:sp>
      <p:sp>
        <p:nvSpPr>
          <p:cNvPr id="5" name="Presenter name"/>
          <p:cNvSpPr txBox="1"/>
          <p:nvPr/>
        </p:nvSpPr>
        <p:spPr>
          <a:xfrm>
            <a:off x="548640" y="3977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Agnes Iwaye</a:t>
            </a:r>
            <a:endParaRPr lang="en-US" sz="1800" dirty="0"/>
          </a:p>
        </p:txBody>
      </p:sp>
      <p:sp>
        <p:nvSpPr>
          <p:cNvPr id="6" name="Presenter role"/>
          <p:cNvSpPr txBox="1"/>
          <p:nvPr/>
        </p:nvSpPr>
        <p:spPr>
          <a:xfrm>
            <a:off x="548640" y="4297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>
                    <a:alpha val="80000"/>
                  </a:schemeClr>
                </a:solidFill>
              </a:rPr>
              <a:t>Program Manager</a:t>
            </a:r>
            <a:endParaRPr lang="en-US" sz="1400" dirty="0"/>
          </a:p>
        </p:txBody>
      </p:sp>
      <p:sp>
        <p:nvSpPr>
          <p:cNvPr id="7" name="Stat card cycles"/>
          <p:cNvSpPr/>
          <p:nvPr/>
        </p:nvSpPr>
        <p:spPr>
          <a:xfrm>
            <a:off x="6126480" y="91440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1450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tat cycles"/>
          <p:cNvSpPr txBox="1"/>
          <p:nvPr/>
        </p:nvSpPr>
        <p:spPr>
          <a:xfrm>
            <a:off x="6126480" y="1051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chemeClr val="accent2"/>
                </a:solidFill>
              </a:rPr>
              <a:t>3</a:t>
            </a:r>
            <a:endParaRPr lang="en-US" sz="7200" dirty="0"/>
          </a:p>
        </p:txBody>
      </p:sp>
      <p:sp>
        <p:nvSpPr>
          <p:cNvPr id="9" name="Stat label cycles"/>
          <p:cNvSpPr txBox="1"/>
          <p:nvPr/>
        </p:nvSpPr>
        <p:spPr>
          <a:xfrm>
            <a:off x="6126480" y="1947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cycles</a:t>
            </a:r>
            <a:endParaRPr lang="en-US" sz="1800" dirty="0"/>
          </a:p>
        </p:txBody>
      </p:sp>
      <p:sp>
        <p:nvSpPr>
          <p:cNvPr id="10" name="Stat card Fellows"/>
          <p:cNvSpPr/>
          <p:nvPr/>
        </p:nvSpPr>
        <p:spPr>
          <a:xfrm>
            <a:off x="6126480" y="269748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1450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tat Fellows"/>
          <p:cNvSpPr txBox="1"/>
          <p:nvPr/>
        </p:nvSpPr>
        <p:spPr>
          <a:xfrm>
            <a:off x="6126480" y="2834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chemeClr val="accent2"/>
                </a:solidFill>
              </a:rPr>
              <a:t>5</a:t>
            </a:r>
            <a:endParaRPr lang="en-US" sz="7200" dirty="0"/>
          </a:p>
        </p:txBody>
      </p:sp>
      <p:sp>
        <p:nvSpPr>
          <p:cNvPr id="12" name="Stat label Fellows"/>
          <p:cNvSpPr txBox="1"/>
          <p:nvPr/>
        </p:nvSpPr>
        <p:spPr>
          <a:xfrm>
            <a:off x="6126480" y="37307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Fellows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Program context and BDI’s scope</a:t>
            </a:r>
            <a:endParaRPr lang="en-US" sz="2600" dirty="0"/>
          </a:p>
        </p:txBody>
      </p:sp>
      <p:sp>
        <p:nvSpPr>
          <p:cNvPr id="3" name="Card wider Fellowship"/>
          <p:cNvSpPr/>
          <p:nvPr/>
        </p:nvSpPr>
        <p:spPr>
          <a:xfrm>
            <a:off x="457200" y="1234440"/>
            <a:ext cx="4023360" cy="2971800"/>
          </a:xfrm>
          <a:prstGeom prst="roundRect">
            <a:avLst>
              <a:gd name="adj" fmla="val 3692"/>
            </a:avLst>
          </a:prstGeom>
          <a:solidFill>
            <a:srgbClr val="EA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Wider Fellowship circle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rgbClr val="0F6B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Wider Fellowship icon" descr="Wider Fellowshi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274320" cy="274320"/>
          </a:xfrm>
          <a:prstGeom prst="rect">
            <a:avLst/>
          </a:prstGeom>
        </p:spPr>
      </p:pic>
      <p:sp>
        <p:nvSpPr>
          <p:cNvPr id="6" name="Heading wider"/>
          <p:cNvSpPr txBox="1"/>
          <p:nvPr/>
        </p:nvSpPr>
        <p:spPr>
          <a:xfrm>
            <a:off x="1371600" y="1417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The wider Fellowship</a:t>
            </a:r>
            <a:endParaRPr lang="en-US" sz="1800" dirty="0"/>
          </a:p>
        </p:txBody>
      </p:sp>
      <p:sp>
        <p:nvSpPr>
          <p:cNvPr id="7" name="Body wider"/>
          <p:cNvSpPr txBox="1"/>
          <p:nvPr/>
        </p:nvSpPr>
        <p:spPr>
          <a:xfrm>
            <a:off x="685800" y="21031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U.S. Department of State program funded by the U.S. Government and administered by IREX.</a:t>
            </a:r>
            <a:endParaRPr lang="en-US" sz="1400" dirty="0"/>
          </a:p>
        </p:txBody>
      </p:sp>
      <p:sp>
        <p:nvSpPr>
          <p:cNvPr id="8" name="Stat 49"/>
          <p:cNvSpPr txBox="1"/>
          <p:nvPr/>
        </p:nvSpPr>
        <p:spPr>
          <a:xfrm>
            <a:off x="685800" y="292608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49</a:t>
            </a:r>
            <a:endParaRPr lang="en-US" sz="6000" dirty="0"/>
          </a:p>
        </p:txBody>
      </p:sp>
      <p:sp>
        <p:nvSpPr>
          <p:cNvPr id="9" name="Stat 49 label"/>
          <p:cNvSpPr txBox="1"/>
          <p:nvPr/>
        </p:nvSpPr>
        <p:spPr>
          <a:xfrm>
            <a:off x="196596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countries in the wider Sub-Saharan Africa network</a:t>
            </a:r>
            <a:endParaRPr lang="en-US" sz="1400" dirty="0"/>
          </a:p>
        </p:txBody>
      </p:sp>
      <p:sp>
        <p:nvSpPr>
          <p:cNvPr id="10" name="Card host role"/>
          <p:cNvSpPr/>
          <p:nvPr/>
        </p:nvSpPr>
        <p:spPr>
          <a:xfrm>
            <a:off x="4663440" y="1234440"/>
            <a:ext cx="4023360" cy="2971800"/>
          </a:xfrm>
          <a:prstGeom prst="roundRect">
            <a:avLst>
              <a:gd name="adj" fmla="val 3692"/>
            </a:avLst>
          </a:prstGeom>
          <a:solidFill>
            <a:srgbClr val="EA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Host role circle"/>
          <p:cNvSpPr/>
          <p:nvPr/>
        </p:nvSpPr>
        <p:spPr>
          <a:xfrm>
            <a:off x="4892040" y="1417320"/>
            <a:ext cx="548640" cy="548640"/>
          </a:xfrm>
          <a:prstGeom prst="ellipse">
            <a:avLst/>
          </a:prstGeom>
          <a:solidFill>
            <a:srgbClr val="0F6B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Host role icon" descr="Host ro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554480"/>
            <a:ext cx="274320" cy="274320"/>
          </a:xfrm>
          <a:prstGeom prst="rect">
            <a:avLst/>
          </a:prstGeom>
        </p:spPr>
      </p:pic>
      <p:sp>
        <p:nvSpPr>
          <p:cNvPr id="13" name="Heading host"/>
          <p:cNvSpPr txBox="1"/>
          <p:nvPr/>
        </p:nvSpPr>
        <p:spPr>
          <a:xfrm>
            <a:off x="5577840" y="1417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My host-organization role</a:t>
            </a:r>
            <a:endParaRPr lang="en-US" sz="1800" dirty="0"/>
          </a:p>
        </p:txBody>
      </p:sp>
      <p:sp>
        <p:nvSpPr>
          <p:cNvPr id="14" name="Body host"/>
          <p:cNvSpPr txBox="1"/>
          <p:nvPr/>
        </p:nvSpPr>
        <p:spPr>
          <a:xfrm>
            <a:off x="4892040" y="21031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Managed BDI’s participation across three cycles, supporting five Fellows through selection, arrival, professional placement and departure.</a:t>
            </a:r>
            <a:endParaRPr lang="en-US" sz="1400" dirty="0"/>
          </a:p>
        </p:txBody>
      </p:sp>
      <p:sp>
        <p:nvSpPr>
          <p:cNvPr id="15" name="Chip cycles"/>
          <p:cNvSpPr/>
          <p:nvPr/>
        </p:nvSpPr>
        <p:spPr>
          <a:xfrm>
            <a:off x="4892040" y="3246120"/>
            <a:ext cx="1691640" cy="731520"/>
          </a:xfrm>
          <a:prstGeom prst="roundRect">
            <a:avLst>
              <a:gd name="adj" fmla="val 15000"/>
            </a:avLst>
          </a:prstGeom>
          <a:solidFill>
            <a:srgbClr val="0B3C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Chip num cycles"/>
          <p:cNvSpPr txBox="1"/>
          <p:nvPr/>
        </p:nvSpPr>
        <p:spPr>
          <a:xfrm>
            <a:off x="5029200" y="32461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3</a:t>
            </a:r>
            <a:endParaRPr lang="en-US" sz="3200" dirty="0"/>
          </a:p>
        </p:txBody>
      </p:sp>
      <p:sp>
        <p:nvSpPr>
          <p:cNvPr id="17" name="Chip label cycles"/>
          <p:cNvSpPr txBox="1"/>
          <p:nvPr/>
        </p:nvSpPr>
        <p:spPr>
          <a:xfrm>
            <a:off x="5458968" y="32461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cycles</a:t>
            </a:r>
            <a:endParaRPr lang="en-US" sz="1600" dirty="0"/>
          </a:p>
        </p:txBody>
      </p:sp>
      <p:sp>
        <p:nvSpPr>
          <p:cNvPr id="18" name="Chip Fellows"/>
          <p:cNvSpPr/>
          <p:nvPr/>
        </p:nvSpPr>
        <p:spPr>
          <a:xfrm>
            <a:off x="6702552" y="3246120"/>
            <a:ext cx="1691640" cy="731520"/>
          </a:xfrm>
          <a:prstGeom prst="roundRect">
            <a:avLst>
              <a:gd name="adj" fmla="val 15000"/>
            </a:avLst>
          </a:prstGeom>
          <a:solidFill>
            <a:srgbClr val="0B3C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Chip num Fellows"/>
          <p:cNvSpPr txBox="1"/>
          <p:nvPr/>
        </p:nvSpPr>
        <p:spPr>
          <a:xfrm>
            <a:off x="6839712" y="32461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5</a:t>
            </a:r>
            <a:endParaRPr lang="en-US" sz="3200" dirty="0"/>
          </a:p>
        </p:txBody>
      </p:sp>
      <p:sp>
        <p:nvSpPr>
          <p:cNvPr id="20" name="Chip label Fellows"/>
          <p:cNvSpPr txBox="1"/>
          <p:nvPr/>
        </p:nvSpPr>
        <p:spPr>
          <a:xfrm>
            <a:off x="7269480" y="32461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Fellows</a:t>
            </a:r>
            <a:endParaRPr lang="en-US" sz="1600" dirty="0"/>
          </a:p>
        </p:txBody>
      </p:sp>
      <p:sp>
        <p:nvSpPr>
          <p:cNvPr id="21" name="Footnote"/>
          <p:cNvSpPr txBox="1"/>
          <p:nvPr/>
        </p:nvSpPr>
        <p:spPr>
          <a:xfrm>
            <a:off x="457200" y="4389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49 countries describes the program network. BDI Fellows’ countries were not supplied.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The hosting challenge</a:t>
            </a:r>
            <a:endParaRPr lang="en-US" sz="2600" dirty="0"/>
          </a:p>
        </p:txBody>
      </p:sp>
      <p:sp>
        <p:nvSpPr>
          <p:cNvPr id="3" name="Card objective"/>
          <p:cNvSpPr/>
          <p:nvPr/>
        </p:nvSpPr>
        <p:spPr>
          <a:xfrm>
            <a:off x="457200" y="1234440"/>
            <a:ext cx="3749040" cy="3200400"/>
          </a:xfrm>
          <a:prstGeom prst="roundRect">
            <a:avLst>
              <a:gd name="adj" fmla="val 3429"/>
            </a:avLst>
          </a:prstGeom>
          <a:solidFill>
            <a:srgbClr val="0B3C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Objective circle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Objective icon" descr="Objectiv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Label objective"/>
          <p:cNvSpPr txBox="1"/>
          <p:nvPr/>
        </p:nvSpPr>
        <p:spPr>
          <a:xfrm>
            <a:off x="73152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Program objective</a:t>
            </a:r>
            <a:endParaRPr lang="en-US" sz="1800" dirty="0"/>
          </a:p>
        </p:txBody>
      </p:sp>
      <p:sp>
        <p:nvSpPr>
          <p:cNvPr id="7" name="Body objective"/>
          <p:cNvSpPr txBox="1"/>
          <p:nvPr/>
        </p:nvSpPr>
        <p:spPr>
          <a:xfrm>
            <a:off x="731520" y="278892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Create meaningful professional placements that connect Fellows’ interests with BDI’s mission and program teams.</a:t>
            </a:r>
            <a:endParaRPr lang="en-US" sz="1800" dirty="0"/>
          </a:p>
        </p:txBody>
      </p:sp>
      <p:sp>
        <p:nvSpPr>
          <p:cNvPr id="8" name="Heading coordination"/>
          <p:cNvSpPr txBox="1"/>
          <p:nvPr/>
        </p:nvSpPr>
        <p:spPr>
          <a:xfrm>
            <a:off x="457200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Coordination requirements</a:t>
            </a:r>
            <a:endParaRPr lang="en-US" sz="1800" dirty="0"/>
          </a:p>
        </p:txBody>
      </p:sp>
      <p:sp>
        <p:nvSpPr>
          <p:cNvPr id="9" name="Req card 1"/>
          <p:cNvSpPr/>
          <p:nvPr/>
        </p:nvSpPr>
        <p:spPr>
          <a:xfrm>
            <a:off x="4572000" y="1783080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EA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Req 1 circle"/>
          <p:cNvSpPr/>
          <p:nvPr/>
        </p:nvSpPr>
        <p:spPr>
          <a:xfrm>
            <a:off x="4709160" y="1911096"/>
            <a:ext cx="521208" cy="521208"/>
          </a:xfrm>
          <a:prstGeom prst="ellipse">
            <a:avLst/>
          </a:prstGeom>
          <a:solidFill>
            <a:srgbClr val="0F6B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Req 1 icon" descr="Req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462" y="2041398"/>
            <a:ext cx="260604" cy="260604"/>
          </a:xfrm>
          <a:prstGeom prst="rect">
            <a:avLst/>
          </a:prstGeom>
        </p:spPr>
      </p:pic>
      <p:sp>
        <p:nvSpPr>
          <p:cNvPr id="12" name="Req text 1"/>
          <p:cNvSpPr txBox="1"/>
          <p:nvPr/>
        </p:nvSpPr>
        <p:spPr>
          <a:xfrm>
            <a:off x="5394960" y="17830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Align selection decisions with IREX.</a:t>
            </a:r>
            <a:endParaRPr lang="en-US" sz="1400" dirty="0"/>
          </a:p>
        </p:txBody>
      </p:sp>
      <p:sp>
        <p:nvSpPr>
          <p:cNvPr id="13" name="Req card 2"/>
          <p:cNvSpPr/>
          <p:nvPr/>
        </p:nvSpPr>
        <p:spPr>
          <a:xfrm>
            <a:off x="4572000" y="2697480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EA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Req 2 circle"/>
          <p:cNvSpPr/>
          <p:nvPr/>
        </p:nvSpPr>
        <p:spPr>
          <a:xfrm>
            <a:off x="4709160" y="2825496"/>
            <a:ext cx="521208" cy="521208"/>
          </a:xfrm>
          <a:prstGeom prst="ellipse">
            <a:avLst/>
          </a:prstGeom>
          <a:solidFill>
            <a:srgbClr val="0F6B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Req 2 icon" descr="Req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9462" y="2955798"/>
            <a:ext cx="260604" cy="260604"/>
          </a:xfrm>
          <a:prstGeom prst="rect">
            <a:avLst/>
          </a:prstGeom>
        </p:spPr>
      </p:pic>
      <p:sp>
        <p:nvSpPr>
          <p:cNvPr id="16" name="Req text 2"/>
          <p:cNvSpPr txBox="1"/>
          <p:nvPr/>
        </p:nvSpPr>
        <p:spPr>
          <a:xfrm>
            <a:off x="5394960" y="2697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Prepare Fellows for arrival and orientation.</a:t>
            </a:r>
            <a:endParaRPr lang="en-US" sz="1400" dirty="0"/>
          </a:p>
        </p:txBody>
      </p:sp>
      <p:sp>
        <p:nvSpPr>
          <p:cNvPr id="17" name="Req card 3"/>
          <p:cNvSpPr/>
          <p:nvPr/>
        </p:nvSpPr>
        <p:spPr>
          <a:xfrm>
            <a:off x="4572000" y="3611880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EA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Req 3 circle"/>
          <p:cNvSpPr/>
          <p:nvPr/>
        </p:nvSpPr>
        <p:spPr>
          <a:xfrm>
            <a:off x="4709160" y="3739896"/>
            <a:ext cx="521208" cy="521208"/>
          </a:xfrm>
          <a:prstGeom prst="ellipse">
            <a:avLst/>
          </a:prstGeom>
          <a:solidFill>
            <a:srgbClr val="0F6B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Req 3 icon" descr="Req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9462" y="3870198"/>
            <a:ext cx="260604" cy="260604"/>
          </a:xfrm>
          <a:prstGeom prst="rect">
            <a:avLst/>
          </a:prstGeom>
        </p:spPr>
      </p:pic>
      <p:sp>
        <p:nvSpPr>
          <p:cNvPr id="20" name="Req text 3"/>
          <p:cNvSpPr txBox="1"/>
          <p:nvPr/>
        </p:nvSpPr>
        <p:spPr>
          <a:xfrm>
            <a:off x="5394960" y="36118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Coordinate activities with BDI program managers and support return travel.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My responsibilities across the lifecycle</a:t>
            </a:r>
            <a:endParaRPr lang="en-US" sz="2600" dirty="0"/>
          </a:p>
        </p:txBody>
      </p:sp>
      <p:sp>
        <p:nvSpPr>
          <p:cNvPr id="3" name="Lifecycle connector"/>
          <p:cNvSpPr/>
          <p:nvPr/>
        </p:nvSpPr>
        <p:spPr>
          <a:xfrm>
            <a:off x="1225296" y="1645920"/>
            <a:ext cx="6693408" cy="0"/>
          </a:xfrm>
          <a:prstGeom prst="line">
            <a:avLst/>
          </a:prstGeom>
          <a:noFill/>
          <a:ln w="19050">
            <a:solidFill>
              <a:srgbClr val="5B8C8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Stage Selection circle"/>
          <p:cNvSpPr/>
          <p:nvPr/>
        </p:nvSpPr>
        <p:spPr>
          <a:xfrm>
            <a:off x="905256" y="1325880"/>
            <a:ext cx="640080" cy="640080"/>
          </a:xfrm>
          <a:prstGeom prst="ellipse">
            <a:avLst/>
          </a:prstGeom>
          <a:solidFill>
            <a:srgbClr val="0F6B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Stage Selection icon" descr="Stage Selec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" y="1485900"/>
            <a:ext cx="320040" cy="320040"/>
          </a:xfrm>
          <a:prstGeom prst="rect">
            <a:avLst/>
          </a:prstGeom>
        </p:spPr>
      </p:pic>
      <p:sp>
        <p:nvSpPr>
          <p:cNvPr id="6" name="Stage name Selection"/>
          <p:cNvSpPr txBox="1"/>
          <p:nvPr/>
        </p:nvSpPr>
        <p:spPr>
          <a:xfrm>
            <a:off x="457200" y="210312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Selection</a:t>
            </a:r>
            <a:endParaRPr lang="en-US" sz="1600" dirty="0"/>
          </a:p>
        </p:txBody>
      </p:sp>
      <p:sp>
        <p:nvSpPr>
          <p:cNvPr id="7" name="Stage card Selection"/>
          <p:cNvSpPr/>
          <p:nvPr/>
        </p:nvSpPr>
        <p:spPr>
          <a:xfrm>
            <a:off x="457200" y="2560320"/>
            <a:ext cx="1536192" cy="1600200"/>
          </a:xfrm>
          <a:prstGeom prst="roundRect">
            <a:avLst>
              <a:gd name="adj" fmla="val 7143"/>
            </a:avLst>
          </a:prstGeom>
          <a:solidFill>
            <a:srgbClr val="EA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tage text Selection"/>
          <p:cNvSpPr txBox="1"/>
          <p:nvPr/>
        </p:nvSpPr>
        <p:spPr>
          <a:xfrm>
            <a:off x="566928" y="2651760"/>
            <a:ext cx="13167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Worked with IREX to review and select Fellows for BDI.</a:t>
            </a:r>
            <a:endParaRPr lang="en-US" sz="1400" dirty="0"/>
          </a:p>
        </p:txBody>
      </p:sp>
      <p:sp>
        <p:nvSpPr>
          <p:cNvPr id="9" name="Stage Pre-arrival circle"/>
          <p:cNvSpPr/>
          <p:nvPr/>
        </p:nvSpPr>
        <p:spPr>
          <a:xfrm>
            <a:off x="2578608" y="1325880"/>
            <a:ext cx="640080" cy="640080"/>
          </a:xfrm>
          <a:prstGeom prst="ellipse">
            <a:avLst/>
          </a:prstGeom>
          <a:solidFill>
            <a:srgbClr val="0F6B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Stage Pre-arrival icon" descr="Stage Pre-arriv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8628" y="1485900"/>
            <a:ext cx="320040" cy="320040"/>
          </a:xfrm>
          <a:prstGeom prst="rect">
            <a:avLst/>
          </a:prstGeom>
        </p:spPr>
      </p:pic>
      <p:sp>
        <p:nvSpPr>
          <p:cNvPr id="11" name="Stage name Pre-arrival"/>
          <p:cNvSpPr txBox="1"/>
          <p:nvPr/>
        </p:nvSpPr>
        <p:spPr>
          <a:xfrm>
            <a:off x="2130552" y="210312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Pre-arrival</a:t>
            </a:r>
            <a:endParaRPr lang="en-US" sz="1600" dirty="0"/>
          </a:p>
        </p:txBody>
      </p:sp>
      <p:sp>
        <p:nvSpPr>
          <p:cNvPr id="12" name="Stage card Pre-arrival"/>
          <p:cNvSpPr/>
          <p:nvPr/>
        </p:nvSpPr>
        <p:spPr>
          <a:xfrm>
            <a:off x="2130552" y="2560320"/>
            <a:ext cx="1536192" cy="1600200"/>
          </a:xfrm>
          <a:prstGeom prst="roundRect">
            <a:avLst>
              <a:gd name="adj" fmla="val 7143"/>
            </a:avLst>
          </a:prstGeom>
          <a:solidFill>
            <a:srgbClr val="EA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tage text Pre-arrival"/>
          <p:cNvSpPr txBox="1"/>
          <p:nvPr/>
        </p:nvSpPr>
        <p:spPr>
          <a:xfrm>
            <a:off x="2240280" y="2651760"/>
            <a:ext cx="13167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Supported travel readiness and arrival coordination.</a:t>
            </a:r>
            <a:endParaRPr lang="en-US" sz="1400" dirty="0"/>
          </a:p>
        </p:txBody>
      </p:sp>
      <p:sp>
        <p:nvSpPr>
          <p:cNvPr id="14" name="Stage Onboarding circle"/>
          <p:cNvSpPr/>
          <p:nvPr/>
        </p:nvSpPr>
        <p:spPr>
          <a:xfrm>
            <a:off x="4251960" y="1325880"/>
            <a:ext cx="640080" cy="640080"/>
          </a:xfrm>
          <a:prstGeom prst="ellipse">
            <a:avLst/>
          </a:prstGeom>
          <a:solidFill>
            <a:srgbClr val="0F6B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Stage Onboarding icon" descr="Stage Onboard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980" y="1485900"/>
            <a:ext cx="320040" cy="320040"/>
          </a:xfrm>
          <a:prstGeom prst="rect">
            <a:avLst/>
          </a:prstGeom>
        </p:spPr>
      </p:pic>
      <p:sp>
        <p:nvSpPr>
          <p:cNvPr id="16" name="Stage name Onboarding"/>
          <p:cNvSpPr txBox="1"/>
          <p:nvPr/>
        </p:nvSpPr>
        <p:spPr>
          <a:xfrm>
            <a:off x="3803904" y="210312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Onboarding</a:t>
            </a:r>
            <a:endParaRPr lang="en-US" sz="1600" dirty="0"/>
          </a:p>
        </p:txBody>
      </p:sp>
      <p:sp>
        <p:nvSpPr>
          <p:cNvPr id="17" name="Stage card Onboarding"/>
          <p:cNvSpPr/>
          <p:nvPr/>
        </p:nvSpPr>
        <p:spPr>
          <a:xfrm>
            <a:off x="3803904" y="2560320"/>
            <a:ext cx="1536192" cy="1600200"/>
          </a:xfrm>
          <a:prstGeom prst="roundRect">
            <a:avLst>
              <a:gd name="adj" fmla="val 7143"/>
            </a:avLst>
          </a:prstGeom>
          <a:solidFill>
            <a:srgbClr val="EA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tage text Onboarding"/>
          <p:cNvSpPr txBox="1"/>
          <p:nvPr/>
        </p:nvSpPr>
        <p:spPr>
          <a:xfrm>
            <a:off x="3913632" y="2651760"/>
            <a:ext cx="13167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Introduced Fellows to BDI and the program’s intent.</a:t>
            </a:r>
            <a:endParaRPr lang="en-US" sz="1400" dirty="0"/>
          </a:p>
        </p:txBody>
      </p:sp>
      <p:sp>
        <p:nvSpPr>
          <p:cNvPr id="19" name="Stage Placement circle"/>
          <p:cNvSpPr/>
          <p:nvPr/>
        </p:nvSpPr>
        <p:spPr>
          <a:xfrm>
            <a:off x="5925312" y="1325880"/>
            <a:ext cx="640080" cy="640080"/>
          </a:xfrm>
          <a:prstGeom prst="ellipse">
            <a:avLst/>
          </a:prstGeom>
          <a:solidFill>
            <a:srgbClr val="0F6B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Stage Placement icon" descr="Stage Placemen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5332" y="1485900"/>
            <a:ext cx="320040" cy="320040"/>
          </a:xfrm>
          <a:prstGeom prst="rect">
            <a:avLst/>
          </a:prstGeom>
        </p:spPr>
      </p:pic>
      <p:sp>
        <p:nvSpPr>
          <p:cNvPr id="21" name="Stage name Placement"/>
          <p:cNvSpPr txBox="1"/>
          <p:nvPr/>
        </p:nvSpPr>
        <p:spPr>
          <a:xfrm>
            <a:off x="5477256" y="210312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Placement</a:t>
            </a:r>
            <a:endParaRPr lang="en-US" sz="1600" dirty="0"/>
          </a:p>
        </p:txBody>
      </p:sp>
      <p:sp>
        <p:nvSpPr>
          <p:cNvPr id="22" name="Stage card Placement"/>
          <p:cNvSpPr/>
          <p:nvPr/>
        </p:nvSpPr>
        <p:spPr>
          <a:xfrm>
            <a:off x="5477256" y="2560320"/>
            <a:ext cx="1536192" cy="1600200"/>
          </a:xfrm>
          <a:prstGeom prst="roundRect">
            <a:avLst>
              <a:gd name="adj" fmla="val 7143"/>
            </a:avLst>
          </a:prstGeom>
          <a:solidFill>
            <a:srgbClr val="EA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tage text Placement"/>
          <p:cNvSpPr txBox="1"/>
          <p:nvPr/>
        </p:nvSpPr>
        <p:spPr>
          <a:xfrm>
            <a:off x="5586984" y="2651760"/>
            <a:ext cx="13167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Connected Fellows with BDI program managers and activities.</a:t>
            </a:r>
            <a:endParaRPr lang="en-US" sz="1400" dirty="0"/>
          </a:p>
        </p:txBody>
      </p:sp>
      <p:sp>
        <p:nvSpPr>
          <p:cNvPr id="24" name="Stage Departure circle"/>
          <p:cNvSpPr/>
          <p:nvPr/>
        </p:nvSpPr>
        <p:spPr>
          <a:xfrm>
            <a:off x="7598664" y="1325880"/>
            <a:ext cx="640080" cy="640080"/>
          </a:xfrm>
          <a:prstGeom prst="ellipse">
            <a:avLst/>
          </a:prstGeom>
          <a:solidFill>
            <a:srgbClr val="0F6B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Stage Departure icon" descr="Stage Departur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8684" y="1485900"/>
            <a:ext cx="320040" cy="320040"/>
          </a:xfrm>
          <a:prstGeom prst="rect">
            <a:avLst/>
          </a:prstGeom>
        </p:spPr>
      </p:pic>
      <p:sp>
        <p:nvSpPr>
          <p:cNvPr id="26" name="Stage name Departure"/>
          <p:cNvSpPr txBox="1"/>
          <p:nvPr/>
        </p:nvSpPr>
        <p:spPr>
          <a:xfrm>
            <a:off x="7150608" y="210312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Departure</a:t>
            </a:r>
            <a:endParaRPr lang="en-US" sz="1600" dirty="0"/>
          </a:p>
        </p:txBody>
      </p:sp>
      <p:sp>
        <p:nvSpPr>
          <p:cNvPr id="27" name="Stage card Departure"/>
          <p:cNvSpPr/>
          <p:nvPr/>
        </p:nvSpPr>
        <p:spPr>
          <a:xfrm>
            <a:off x="7150608" y="2560320"/>
            <a:ext cx="1536192" cy="1600200"/>
          </a:xfrm>
          <a:prstGeom prst="roundRect">
            <a:avLst>
              <a:gd name="adj" fmla="val 7143"/>
            </a:avLst>
          </a:prstGeom>
          <a:solidFill>
            <a:srgbClr val="EA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tage text Departure"/>
          <p:cNvSpPr txBox="1"/>
          <p:nvPr/>
        </p:nvSpPr>
        <p:spPr>
          <a:xfrm>
            <a:off x="7260336" y="2651760"/>
            <a:ext cx="13167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Supported return travel and the transition out of the placement.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Participation across three cycles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47548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re chip Cycle 1"/>
          <p:cNvSpPr/>
          <p:nvPr/>
        </p:nvSpPr>
        <p:spPr>
          <a:xfrm>
            <a:off x="457200" y="3749040"/>
            <a:ext cx="1499616" cy="685800"/>
          </a:xfrm>
          <a:prstGeom prst="roundRect">
            <a:avLst>
              <a:gd name="adj" fmla="val 16000"/>
            </a:avLst>
          </a:prstGeom>
          <a:solidFill>
            <a:srgbClr val="EA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re Cycle 1"/>
          <p:cNvSpPr txBox="1"/>
          <p:nvPr/>
        </p:nvSpPr>
        <p:spPr>
          <a:xfrm>
            <a:off x="457200" y="374904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20%</a:t>
            </a:r>
            <a:endParaRPr lang="en-US" sz="20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Cycle 1 share</a:t>
            </a:r>
            <a:endParaRPr lang="en-US" sz="2000" dirty="0"/>
          </a:p>
        </p:txBody>
      </p:sp>
      <p:sp>
        <p:nvSpPr>
          <p:cNvPr id="6" name="Share chip Cycle 2"/>
          <p:cNvSpPr/>
          <p:nvPr/>
        </p:nvSpPr>
        <p:spPr>
          <a:xfrm>
            <a:off x="2084832" y="3749040"/>
            <a:ext cx="1499616" cy="685800"/>
          </a:xfrm>
          <a:prstGeom prst="roundRect">
            <a:avLst>
              <a:gd name="adj" fmla="val 16000"/>
            </a:avLst>
          </a:prstGeom>
          <a:solidFill>
            <a:srgbClr val="EA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re Cycle 2"/>
          <p:cNvSpPr txBox="1"/>
          <p:nvPr/>
        </p:nvSpPr>
        <p:spPr>
          <a:xfrm>
            <a:off x="2084832" y="374904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20%</a:t>
            </a:r>
            <a:endParaRPr lang="en-US" sz="20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Cycle 2 share</a:t>
            </a:r>
            <a:endParaRPr lang="en-US" sz="2000" dirty="0"/>
          </a:p>
        </p:txBody>
      </p:sp>
      <p:sp>
        <p:nvSpPr>
          <p:cNvPr id="8" name="Share chip Cycle 3"/>
          <p:cNvSpPr/>
          <p:nvPr/>
        </p:nvSpPr>
        <p:spPr>
          <a:xfrm>
            <a:off x="3712464" y="3749040"/>
            <a:ext cx="1499616" cy="685800"/>
          </a:xfrm>
          <a:prstGeom prst="roundRect">
            <a:avLst>
              <a:gd name="adj" fmla="val 16000"/>
            </a:avLst>
          </a:prstGeom>
          <a:solidFill>
            <a:srgbClr val="0B3C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re Cycle 3"/>
          <p:cNvSpPr txBox="1"/>
          <p:nvPr/>
        </p:nvSpPr>
        <p:spPr>
          <a:xfrm>
            <a:off x="3712464" y="374904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2"/>
                </a:solidFill>
              </a:rPr>
              <a:t>60%</a:t>
            </a:r>
            <a:endParaRPr lang="en-US" sz="20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accent2"/>
                </a:solidFill>
              </a:rPr>
              <a:t>Cycle 3 share</a:t>
            </a:r>
            <a:endParaRPr lang="en-US" sz="2000" dirty="0"/>
          </a:p>
        </p:txBody>
      </p:sp>
      <p:sp>
        <p:nvSpPr>
          <p:cNvPr id="10" name="Card 3x"/>
          <p:cNvSpPr/>
          <p:nvPr/>
        </p:nvSpPr>
        <p:spPr>
          <a:xfrm>
            <a:off x="5577840" y="1234440"/>
            <a:ext cx="3108960" cy="3200400"/>
          </a:xfrm>
          <a:prstGeom prst="roundRect">
            <a:avLst>
              <a:gd name="adj" fmla="val 3529"/>
            </a:avLst>
          </a:prstGeom>
          <a:solidFill>
            <a:srgbClr val="0B3C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tat 3x"/>
          <p:cNvSpPr txBox="1"/>
          <p:nvPr/>
        </p:nvSpPr>
        <p:spPr>
          <a:xfrm>
            <a:off x="5577840" y="14630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accent2"/>
                </a:solidFill>
              </a:rPr>
              <a:t>3×</a:t>
            </a:r>
            <a:endParaRPr lang="en-US" sz="8000" dirty="0"/>
          </a:p>
        </p:txBody>
      </p:sp>
      <p:sp>
        <p:nvSpPr>
          <p:cNvPr id="12" name="Text 3x"/>
          <p:cNvSpPr txBox="1"/>
          <p:nvPr/>
        </p:nvSpPr>
        <p:spPr>
          <a:xfrm>
            <a:off x="5852160" y="27889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The third cycle hosted three times as many Fellows as either earlier cycle.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Stakeholder coordination</a:t>
            </a:r>
            <a:endParaRPr lang="en-US" sz="2600" dirty="0"/>
          </a:p>
        </p:txBody>
      </p:sp>
      <p:sp>
        <p:nvSpPr>
          <p:cNvPr id="3" name="Stakeholder card IREX"/>
          <p:cNvSpPr/>
          <p:nvPr/>
        </p:nvSpPr>
        <p:spPr>
          <a:xfrm>
            <a:off x="457200" y="118872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EA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takeholder IREX circle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0F6B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Stakeholder IREX icon" descr="Stakeholder IRE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08760"/>
            <a:ext cx="274320" cy="274320"/>
          </a:xfrm>
          <a:prstGeom prst="rect">
            <a:avLst/>
          </a:prstGeom>
        </p:spPr>
      </p:pic>
      <p:sp>
        <p:nvSpPr>
          <p:cNvPr id="6" name="Stakeholder name IREX"/>
          <p:cNvSpPr txBox="1"/>
          <p:nvPr/>
        </p:nvSpPr>
        <p:spPr>
          <a:xfrm>
            <a:off x="13716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IREX</a:t>
            </a:r>
            <a:endParaRPr lang="en-US" sz="1600" dirty="0"/>
          </a:p>
        </p:txBody>
      </p:sp>
      <p:sp>
        <p:nvSpPr>
          <p:cNvPr id="7" name="Stakeholder focus IREX"/>
          <p:cNvSpPr txBox="1"/>
          <p:nvPr/>
        </p:nvSpPr>
        <p:spPr>
          <a:xfrm>
            <a:off x="1371600" y="17190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Fellow selection, placement requirements and program coordination</a:t>
            </a:r>
            <a:endParaRPr lang="en-US" sz="1400" dirty="0"/>
          </a:p>
        </p:txBody>
      </p:sp>
      <p:sp>
        <p:nvSpPr>
          <p:cNvPr id="8" name="Stakeholder card Agnes Iwaye, BDI"/>
          <p:cNvSpPr/>
          <p:nvPr/>
        </p:nvSpPr>
        <p:spPr>
          <a:xfrm>
            <a:off x="4663440" y="118872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0B3C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takeholder Agnes Iwaye, BDI circle"/>
          <p:cNvSpPr/>
          <p:nvPr/>
        </p:nvSpPr>
        <p:spPr>
          <a:xfrm>
            <a:off x="4846320" y="1371600"/>
            <a:ext cx="548640" cy="548640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Stakeholder Agnes Iwaye, BDI icon" descr="Stakeholder Agnes Iwaye, BD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508760"/>
            <a:ext cx="274320" cy="274320"/>
          </a:xfrm>
          <a:prstGeom prst="rect">
            <a:avLst/>
          </a:prstGeom>
        </p:spPr>
      </p:pic>
      <p:sp>
        <p:nvSpPr>
          <p:cNvPr id="11" name="Stakeholder name Agnes Iwaye, BDI"/>
          <p:cNvSpPr txBox="1"/>
          <p:nvPr/>
        </p:nvSpPr>
        <p:spPr>
          <a:xfrm>
            <a:off x="557784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Agnes Iwaye, BDI</a:t>
            </a:r>
            <a:endParaRPr lang="en-US" sz="1600" dirty="0"/>
          </a:p>
        </p:txBody>
      </p:sp>
      <p:sp>
        <p:nvSpPr>
          <p:cNvPr id="12" name="Stakeholder focus Agnes Iwaye, BDI"/>
          <p:cNvSpPr txBox="1"/>
          <p:nvPr/>
        </p:nvSpPr>
        <p:spPr>
          <a:xfrm>
            <a:off x="5577840" y="17190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Host coordination, onboarding, logistics and participant support</a:t>
            </a:r>
            <a:endParaRPr lang="en-US" sz="1400" dirty="0"/>
          </a:p>
        </p:txBody>
      </p:sp>
      <p:sp>
        <p:nvSpPr>
          <p:cNvPr id="13" name="Stakeholder card BDI program managers"/>
          <p:cNvSpPr/>
          <p:nvPr/>
        </p:nvSpPr>
        <p:spPr>
          <a:xfrm>
            <a:off x="457200" y="256032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EA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takeholder BDI program managers circle"/>
          <p:cNvSpPr/>
          <p:nvPr/>
        </p:nvSpPr>
        <p:spPr>
          <a:xfrm>
            <a:off x="640080" y="2743200"/>
            <a:ext cx="548640" cy="548640"/>
          </a:xfrm>
          <a:prstGeom prst="ellipse">
            <a:avLst/>
          </a:prstGeom>
          <a:solidFill>
            <a:srgbClr val="0F6B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Stakeholder BDI program managers icon" descr="Stakeholder BDI program manager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880360"/>
            <a:ext cx="274320" cy="274320"/>
          </a:xfrm>
          <a:prstGeom prst="rect">
            <a:avLst/>
          </a:prstGeom>
        </p:spPr>
      </p:pic>
      <p:sp>
        <p:nvSpPr>
          <p:cNvPr id="16" name="Stakeholder name BDI program managers"/>
          <p:cNvSpPr txBox="1"/>
          <p:nvPr/>
        </p:nvSpPr>
        <p:spPr>
          <a:xfrm>
            <a:off x="137160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BDI program managers</a:t>
            </a:r>
            <a:endParaRPr lang="en-US" sz="1600" dirty="0"/>
          </a:p>
        </p:txBody>
      </p:sp>
      <p:sp>
        <p:nvSpPr>
          <p:cNvPr id="17" name="Stakeholder focus BDI program managers"/>
          <p:cNvSpPr txBox="1"/>
          <p:nvPr/>
        </p:nvSpPr>
        <p:spPr>
          <a:xfrm>
            <a:off x="1371600" y="30906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Workplace activities and professional placement support</a:t>
            </a:r>
            <a:endParaRPr lang="en-US" sz="1400" dirty="0"/>
          </a:p>
        </p:txBody>
      </p:sp>
      <p:sp>
        <p:nvSpPr>
          <p:cNvPr id="18" name="Stakeholder card Fellows"/>
          <p:cNvSpPr/>
          <p:nvPr/>
        </p:nvSpPr>
        <p:spPr>
          <a:xfrm>
            <a:off x="4663440" y="256032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EA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takeholder Fellows circle"/>
          <p:cNvSpPr/>
          <p:nvPr/>
        </p:nvSpPr>
        <p:spPr>
          <a:xfrm>
            <a:off x="4846320" y="2743200"/>
            <a:ext cx="548640" cy="548640"/>
          </a:xfrm>
          <a:prstGeom prst="ellipse">
            <a:avLst/>
          </a:prstGeom>
          <a:solidFill>
            <a:srgbClr val="0F6B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Stakeholder Fellows icon" descr="Stakeholder Fellow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880360"/>
            <a:ext cx="274320" cy="274320"/>
          </a:xfrm>
          <a:prstGeom prst="rect">
            <a:avLst/>
          </a:prstGeom>
        </p:spPr>
      </p:pic>
      <p:sp>
        <p:nvSpPr>
          <p:cNvPr id="21" name="Stakeholder name Fellows"/>
          <p:cNvSpPr txBox="1"/>
          <p:nvPr/>
        </p:nvSpPr>
        <p:spPr>
          <a:xfrm>
            <a:off x="557784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Fellows</a:t>
            </a:r>
            <a:endParaRPr lang="en-US" sz="1600" dirty="0"/>
          </a:p>
        </p:txBody>
      </p:sp>
      <p:sp>
        <p:nvSpPr>
          <p:cNvPr id="22" name="Stakeholder focus Fellows"/>
          <p:cNvSpPr txBox="1"/>
          <p:nvPr/>
        </p:nvSpPr>
        <p:spPr>
          <a:xfrm>
            <a:off x="5577840" y="30906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Travel readiness, learning interests and participation</a:t>
            </a:r>
            <a:endParaRPr lang="en-US" sz="1400" dirty="0"/>
          </a:p>
        </p:txBody>
      </p:sp>
      <p:sp>
        <p:nvSpPr>
          <p:cNvPr id="23" name="Closing takeaway"/>
          <p:cNvSpPr txBox="1"/>
          <p:nvPr/>
        </p:nvSpPr>
        <p:spPr>
          <a:xfrm>
            <a:off x="45720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My role connected the external program administrator with BDI’s internal delivery teams.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Illustrative timeline for one hosting cycle</a:t>
            </a:r>
            <a:endParaRPr lang="en-US" sz="2600" dirty="0"/>
          </a:p>
        </p:txBody>
      </p:sp>
      <p:sp>
        <p:nvSpPr>
          <p:cNvPr id="3" name="Timeline spine"/>
          <p:cNvSpPr/>
          <p:nvPr/>
        </p:nvSpPr>
        <p:spPr>
          <a:xfrm>
            <a:off x="2194560" y="1508760"/>
            <a:ext cx="0" cy="2414016"/>
          </a:xfrm>
          <a:prstGeom prst="line">
            <a:avLst/>
          </a:prstGeom>
          <a:noFill/>
          <a:ln w="25400">
            <a:solidFill>
              <a:srgbClr val="5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imeline week 1"/>
          <p:cNvSpPr txBox="1"/>
          <p:nvPr/>
        </p:nvSpPr>
        <p:spPr>
          <a:xfrm>
            <a:off x="457200" y="1207008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tx2"/>
                </a:solidFill>
              </a:rPr>
              <a:t>Weeks 1–2</a:t>
            </a:r>
            <a:endParaRPr lang="en-US" sz="1800" dirty="0"/>
          </a:p>
        </p:txBody>
      </p:sp>
      <p:sp>
        <p:nvSpPr>
          <p:cNvPr id="5" name="Timeline dot 1"/>
          <p:cNvSpPr/>
          <p:nvPr/>
        </p:nvSpPr>
        <p:spPr>
          <a:xfrm>
            <a:off x="2084832" y="1399032"/>
            <a:ext cx="219456" cy="219456"/>
          </a:xfrm>
          <a:prstGeom prst="ellipse">
            <a:avLst/>
          </a:prstGeom>
          <a:solidFill>
            <a:srgbClr val="0F6B7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imeline card 1"/>
          <p:cNvSpPr/>
          <p:nvPr/>
        </p:nvSpPr>
        <p:spPr>
          <a:xfrm>
            <a:off x="2560320" y="1243584"/>
            <a:ext cx="6126480" cy="530352"/>
          </a:xfrm>
          <a:prstGeom prst="roundRect">
            <a:avLst>
              <a:gd name="adj" fmla="val 20690"/>
            </a:avLst>
          </a:prstGeom>
          <a:solidFill>
            <a:srgbClr val="EA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imeline text 1"/>
          <p:cNvSpPr txBox="1"/>
          <p:nvPr/>
        </p:nvSpPr>
        <p:spPr>
          <a:xfrm>
            <a:off x="2743200" y="1243584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Review Fellow profiles and confirm placement alignment with IREX.</a:t>
            </a:r>
            <a:endParaRPr lang="en-US" sz="1400" dirty="0"/>
          </a:p>
        </p:txBody>
      </p:sp>
      <p:sp>
        <p:nvSpPr>
          <p:cNvPr id="8" name="Timeline week 2"/>
          <p:cNvSpPr txBox="1"/>
          <p:nvPr/>
        </p:nvSpPr>
        <p:spPr>
          <a:xfrm>
            <a:off x="457200" y="1810512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tx2"/>
                </a:solidFill>
              </a:rPr>
              <a:t>Weeks 3–4</a:t>
            </a:r>
            <a:endParaRPr lang="en-US" sz="1800" dirty="0"/>
          </a:p>
        </p:txBody>
      </p:sp>
      <p:sp>
        <p:nvSpPr>
          <p:cNvPr id="9" name="Timeline dot 2"/>
          <p:cNvSpPr/>
          <p:nvPr/>
        </p:nvSpPr>
        <p:spPr>
          <a:xfrm>
            <a:off x="2084832" y="2002536"/>
            <a:ext cx="219456" cy="219456"/>
          </a:xfrm>
          <a:prstGeom prst="ellipse">
            <a:avLst/>
          </a:prstGeom>
          <a:solidFill>
            <a:srgbClr val="0F6B7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imeline card 2"/>
          <p:cNvSpPr/>
          <p:nvPr/>
        </p:nvSpPr>
        <p:spPr>
          <a:xfrm>
            <a:off x="2560320" y="1847088"/>
            <a:ext cx="6126480" cy="530352"/>
          </a:xfrm>
          <a:prstGeom prst="roundRect">
            <a:avLst>
              <a:gd name="adj" fmla="val 20690"/>
            </a:avLst>
          </a:prstGeom>
          <a:solidFill>
            <a:srgbClr val="EA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imeline text 2"/>
          <p:cNvSpPr txBox="1"/>
          <p:nvPr/>
        </p:nvSpPr>
        <p:spPr>
          <a:xfrm>
            <a:off x="2743200" y="1847088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Prepare travel, schedules and internal host arrangements.</a:t>
            </a:r>
            <a:endParaRPr lang="en-US" sz="1400" dirty="0"/>
          </a:p>
        </p:txBody>
      </p:sp>
      <p:sp>
        <p:nvSpPr>
          <p:cNvPr id="12" name="Timeline week 3"/>
          <p:cNvSpPr txBox="1"/>
          <p:nvPr/>
        </p:nvSpPr>
        <p:spPr>
          <a:xfrm>
            <a:off x="457200" y="2414016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tx2"/>
                </a:solidFill>
              </a:rPr>
              <a:t>Week 5</a:t>
            </a:r>
            <a:endParaRPr lang="en-US" sz="1800" dirty="0"/>
          </a:p>
        </p:txBody>
      </p:sp>
      <p:sp>
        <p:nvSpPr>
          <p:cNvPr id="13" name="Timeline dot 3"/>
          <p:cNvSpPr/>
          <p:nvPr/>
        </p:nvSpPr>
        <p:spPr>
          <a:xfrm>
            <a:off x="2084832" y="2606040"/>
            <a:ext cx="219456" cy="219456"/>
          </a:xfrm>
          <a:prstGeom prst="ellipse">
            <a:avLst/>
          </a:prstGeom>
          <a:solidFill>
            <a:srgbClr val="0F6B7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imeline card 3"/>
          <p:cNvSpPr/>
          <p:nvPr/>
        </p:nvSpPr>
        <p:spPr>
          <a:xfrm>
            <a:off x="2560320" y="2450592"/>
            <a:ext cx="6126480" cy="530352"/>
          </a:xfrm>
          <a:prstGeom prst="roundRect">
            <a:avLst>
              <a:gd name="adj" fmla="val 20690"/>
            </a:avLst>
          </a:prstGeom>
          <a:solidFill>
            <a:srgbClr val="EA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imeline text 3"/>
          <p:cNvSpPr txBox="1"/>
          <p:nvPr/>
        </p:nvSpPr>
        <p:spPr>
          <a:xfrm>
            <a:off x="2743200" y="2450592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Welcome Fellows and complete BDI orientation.</a:t>
            </a:r>
            <a:endParaRPr lang="en-US" sz="1400" dirty="0"/>
          </a:p>
        </p:txBody>
      </p:sp>
      <p:sp>
        <p:nvSpPr>
          <p:cNvPr id="16" name="Timeline week 4"/>
          <p:cNvSpPr txBox="1"/>
          <p:nvPr/>
        </p:nvSpPr>
        <p:spPr>
          <a:xfrm>
            <a:off x="457200" y="3017520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tx2"/>
                </a:solidFill>
              </a:rPr>
              <a:t>Weeks 5–8</a:t>
            </a:r>
            <a:endParaRPr lang="en-US" sz="1800" dirty="0"/>
          </a:p>
        </p:txBody>
      </p:sp>
      <p:sp>
        <p:nvSpPr>
          <p:cNvPr id="17" name="Timeline dot 4"/>
          <p:cNvSpPr/>
          <p:nvPr/>
        </p:nvSpPr>
        <p:spPr>
          <a:xfrm>
            <a:off x="2084832" y="3209544"/>
            <a:ext cx="219456" cy="219456"/>
          </a:xfrm>
          <a:prstGeom prst="ellipse">
            <a:avLst/>
          </a:prstGeom>
          <a:solidFill>
            <a:srgbClr val="E9A23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imeline card 4"/>
          <p:cNvSpPr/>
          <p:nvPr/>
        </p:nvSpPr>
        <p:spPr>
          <a:xfrm>
            <a:off x="2560320" y="3054096"/>
            <a:ext cx="6126480" cy="530352"/>
          </a:xfrm>
          <a:prstGeom prst="roundRect">
            <a:avLst>
              <a:gd name="adj" fmla="val 20690"/>
            </a:avLst>
          </a:prstGeom>
          <a:solidFill>
            <a:srgbClr val="EA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imeline text 4"/>
          <p:cNvSpPr txBox="1"/>
          <p:nvPr/>
        </p:nvSpPr>
        <p:spPr>
          <a:xfrm>
            <a:off x="2743200" y="3054096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Deliver a modeled four-week professional placement.</a:t>
            </a:r>
            <a:endParaRPr lang="en-US" sz="1400" dirty="0"/>
          </a:p>
        </p:txBody>
      </p:sp>
      <p:sp>
        <p:nvSpPr>
          <p:cNvPr id="20" name="Timeline week 5"/>
          <p:cNvSpPr txBox="1"/>
          <p:nvPr/>
        </p:nvSpPr>
        <p:spPr>
          <a:xfrm>
            <a:off x="457200" y="3621024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tx2"/>
                </a:solidFill>
              </a:rPr>
              <a:t>Week 9</a:t>
            </a:r>
            <a:endParaRPr lang="en-US" sz="1800" dirty="0"/>
          </a:p>
        </p:txBody>
      </p:sp>
      <p:sp>
        <p:nvSpPr>
          <p:cNvPr id="21" name="Timeline dot 5"/>
          <p:cNvSpPr/>
          <p:nvPr/>
        </p:nvSpPr>
        <p:spPr>
          <a:xfrm>
            <a:off x="2084832" y="3813048"/>
            <a:ext cx="219456" cy="219456"/>
          </a:xfrm>
          <a:prstGeom prst="ellipse">
            <a:avLst/>
          </a:prstGeom>
          <a:solidFill>
            <a:srgbClr val="0F6B7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imeline card 5"/>
          <p:cNvSpPr/>
          <p:nvPr/>
        </p:nvSpPr>
        <p:spPr>
          <a:xfrm>
            <a:off x="2560320" y="3657600"/>
            <a:ext cx="6126480" cy="530352"/>
          </a:xfrm>
          <a:prstGeom prst="roundRect">
            <a:avLst>
              <a:gd name="adj" fmla="val 20690"/>
            </a:avLst>
          </a:prstGeom>
          <a:solidFill>
            <a:srgbClr val="EA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imeline text 5"/>
          <p:cNvSpPr txBox="1"/>
          <p:nvPr/>
        </p:nvSpPr>
        <p:spPr>
          <a:xfrm>
            <a:off x="2743200" y="365760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Support departure and capture feedback.</a:t>
            </a:r>
            <a:endParaRPr lang="en-US" sz="1400" dirty="0"/>
          </a:p>
        </p:txBody>
      </p:sp>
      <p:sp>
        <p:nvSpPr>
          <p:cNvPr id="24" name="Footnote"/>
          <p:cNvSpPr txBox="1"/>
          <p:nvPr/>
        </p:nvSpPr>
        <p:spPr>
          <a:xfrm>
            <a:off x="457200" y="437083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Illustrative only. The 2025 PDE lasted four weeks. The general program overview allows up to six. BDI’s actual cycle dates remain unconfirmed.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Suggested controls for future cycles</a:t>
            </a:r>
            <a:endParaRPr lang="en-US" sz="2600" dirty="0"/>
          </a:p>
        </p:txBody>
      </p:sp>
      <p:sp>
        <p:nvSpPr>
          <p:cNvPr id="3" name="Risk chip 1"/>
          <p:cNvSpPr/>
          <p:nvPr/>
        </p:nvSpPr>
        <p:spPr>
          <a:xfrm>
            <a:off x="457200" y="1463040"/>
            <a:ext cx="2926080" cy="530352"/>
          </a:xfrm>
          <a:prstGeom prst="roundRect">
            <a:avLst>
              <a:gd name="adj" fmla="val 20690"/>
            </a:avLst>
          </a:prstGeom>
          <a:solidFill>
            <a:srgbClr val="0B3C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Risk text 1"/>
          <p:cNvSpPr txBox="1"/>
          <p:nvPr/>
        </p:nvSpPr>
        <p:spPr>
          <a:xfrm>
            <a:off x="640080" y="146304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Arrival or departure disruption</a:t>
            </a:r>
            <a:endParaRPr lang="en-US" sz="1400" dirty="0"/>
          </a:p>
        </p:txBody>
      </p:sp>
      <p:pic>
        <p:nvPicPr>
          <p:cNvPr id="5" name="Arrow 1" descr="leads 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1618488"/>
            <a:ext cx="219456" cy="219456"/>
          </a:xfrm>
          <a:prstGeom prst="rect">
            <a:avLst/>
          </a:prstGeom>
        </p:spPr>
      </p:pic>
      <p:sp>
        <p:nvSpPr>
          <p:cNvPr id="6" name="Control card 1"/>
          <p:cNvSpPr/>
          <p:nvPr/>
        </p:nvSpPr>
        <p:spPr>
          <a:xfrm>
            <a:off x="3931920" y="1463040"/>
            <a:ext cx="4754880" cy="530352"/>
          </a:xfrm>
          <a:prstGeom prst="roundRect">
            <a:avLst>
              <a:gd name="adj" fmla="val 20690"/>
            </a:avLst>
          </a:prstGeom>
          <a:solidFill>
            <a:srgbClr val="EA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Control text 1"/>
          <p:cNvSpPr txBox="1"/>
          <p:nvPr/>
        </p:nvSpPr>
        <p:spPr>
          <a:xfrm>
            <a:off x="4114800" y="146304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Confirm itineraries and escalation contacts with IREX.</a:t>
            </a:r>
            <a:endParaRPr lang="en-US" sz="1400" dirty="0"/>
          </a:p>
        </p:txBody>
      </p:sp>
      <p:sp>
        <p:nvSpPr>
          <p:cNvPr id="8" name="Risk chip 2"/>
          <p:cNvSpPr/>
          <p:nvPr/>
        </p:nvSpPr>
        <p:spPr>
          <a:xfrm>
            <a:off x="457200" y="2075688"/>
            <a:ext cx="2926080" cy="530352"/>
          </a:xfrm>
          <a:prstGeom prst="roundRect">
            <a:avLst>
              <a:gd name="adj" fmla="val 20690"/>
            </a:avLst>
          </a:prstGeom>
          <a:solidFill>
            <a:srgbClr val="0B3C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Risk text 2"/>
          <p:cNvSpPr txBox="1"/>
          <p:nvPr/>
        </p:nvSpPr>
        <p:spPr>
          <a:xfrm>
            <a:off x="640080" y="207568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Placement mismatch</a:t>
            </a:r>
            <a:endParaRPr lang="en-US" sz="1400" dirty="0"/>
          </a:p>
        </p:txBody>
      </p:sp>
      <p:pic>
        <p:nvPicPr>
          <p:cNvPr id="10" name="Arrow 2" descr="leads 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2231136"/>
            <a:ext cx="219456" cy="219456"/>
          </a:xfrm>
          <a:prstGeom prst="rect">
            <a:avLst/>
          </a:prstGeom>
        </p:spPr>
      </p:pic>
      <p:sp>
        <p:nvSpPr>
          <p:cNvPr id="11" name="Control card 2"/>
          <p:cNvSpPr/>
          <p:nvPr/>
        </p:nvSpPr>
        <p:spPr>
          <a:xfrm>
            <a:off x="3931920" y="2075688"/>
            <a:ext cx="4754880" cy="530352"/>
          </a:xfrm>
          <a:prstGeom prst="roundRect">
            <a:avLst>
              <a:gd name="adj" fmla="val 20690"/>
            </a:avLst>
          </a:prstGeom>
          <a:solidFill>
            <a:srgbClr val="EA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Control text 2"/>
          <p:cNvSpPr txBox="1"/>
          <p:nvPr/>
        </p:nvSpPr>
        <p:spPr>
          <a:xfrm>
            <a:off x="4114800" y="207568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Agree learning objectives and a named BDI supervisor.</a:t>
            </a:r>
            <a:endParaRPr lang="en-US" sz="1400" dirty="0"/>
          </a:p>
        </p:txBody>
      </p:sp>
      <p:sp>
        <p:nvSpPr>
          <p:cNvPr id="13" name="Risk chip 3"/>
          <p:cNvSpPr/>
          <p:nvPr/>
        </p:nvSpPr>
        <p:spPr>
          <a:xfrm>
            <a:off x="457200" y="2688336"/>
            <a:ext cx="2926080" cy="530352"/>
          </a:xfrm>
          <a:prstGeom prst="roundRect">
            <a:avLst>
              <a:gd name="adj" fmla="val 20690"/>
            </a:avLst>
          </a:prstGeom>
          <a:solidFill>
            <a:srgbClr val="0B3C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Risk text 3"/>
          <p:cNvSpPr txBox="1"/>
          <p:nvPr/>
        </p:nvSpPr>
        <p:spPr>
          <a:xfrm>
            <a:off x="640080" y="268833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Schedule conflicts</a:t>
            </a:r>
            <a:endParaRPr lang="en-US" sz="1400" dirty="0"/>
          </a:p>
        </p:txBody>
      </p:sp>
      <p:pic>
        <p:nvPicPr>
          <p:cNvPr id="15" name="Arrow 3" descr="leads 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2843784"/>
            <a:ext cx="219456" cy="219456"/>
          </a:xfrm>
          <a:prstGeom prst="rect">
            <a:avLst/>
          </a:prstGeom>
        </p:spPr>
      </p:pic>
      <p:sp>
        <p:nvSpPr>
          <p:cNvPr id="16" name="Control card 3"/>
          <p:cNvSpPr/>
          <p:nvPr/>
        </p:nvSpPr>
        <p:spPr>
          <a:xfrm>
            <a:off x="3931920" y="2688336"/>
            <a:ext cx="4754880" cy="530352"/>
          </a:xfrm>
          <a:prstGeom prst="roundRect">
            <a:avLst>
              <a:gd name="adj" fmla="val 20690"/>
            </a:avLst>
          </a:prstGeom>
          <a:solidFill>
            <a:srgbClr val="EA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Control text 3"/>
          <p:cNvSpPr txBox="1"/>
          <p:nvPr/>
        </p:nvSpPr>
        <p:spPr>
          <a:xfrm>
            <a:off x="4114800" y="268833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Maintain one shared calendar and review it weekly.</a:t>
            </a:r>
            <a:endParaRPr lang="en-US" sz="1400" dirty="0"/>
          </a:p>
        </p:txBody>
      </p:sp>
      <p:sp>
        <p:nvSpPr>
          <p:cNvPr id="18" name="Risk chip 4"/>
          <p:cNvSpPr/>
          <p:nvPr/>
        </p:nvSpPr>
        <p:spPr>
          <a:xfrm>
            <a:off x="457200" y="3300984"/>
            <a:ext cx="2926080" cy="530352"/>
          </a:xfrm>
          <a:prstGeom prst="roundRect">
            <a:avLst>
              <a:gd name="adj" fmla="val 20690"/>
            </a:avLst>
          </a:prstGeom>
          <a:solidFill>
            <a:srgbClr val="0B3C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Risk text 4"/>
          <p:cNvSpPr txBox="1"/>
          <p:nvPr/>
        </p:nvSpPr>
        <p:spPr>
          <a:xfrm>
            <a:off x="640080" y="330098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Participant support needs</a:t>
            </a:r>
            <a:endParaRPr lang="en-US" sz="1400" dirty="0"/>
          </a:p>
        </p:txBody>
      </p:sp>
      <p:pic>
        <p:nvPicPr>
          <p:cNvPr id="20" name="Arrow 4" descr="leads 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3456432"/>
            <a:ext cx="219456" cy="219456"/>
          </a:xfrm>
          <a:prstGeom prst="rect">
            <a:avLst/>
          </a:prstGeom>
        </p:spPr>
      </p:pic>
      <p:sp>
        <p:nvSpPr>
          <p:cNvPr id="21" name="Control card 4"/>
          <p:cNvSpPr/>
          <p:nvPr/>
        </p:nvSpPr>
        <p:spPr>
          <a:xfrm>
            <a:off x="3931920" y="3300984"/>
            <a:ext cx="4754880" cy="530352"/>
          </a:xfrm>
          <a:prstGeom prst="roundRect">
            <a:avLst>
              <a:gd name="adj" fmla="val 20690"/>
            </a:avLst>
          </a:prstGeom>
          <a:solidFill>
            <a:srgbClr val="EA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Control text 4"/>
          <p:cNvSpPr txBox="1"/>
          <p:nvPr/>
        </p:nvSpPr>
        <p:spPr>
          <a:xfrm>
            <a:off x="4114800" y="3300984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Schedule regular check-ins and clarify the support contact.</a:t>
            </a:r>
            <a:endParaRPr lang="en-US" sz="1400" dirty="0"/>
          </a:p>
        </p:txBody>
      </p:sp>
      <p:sp>
        <p:nvSpPr>
          <p:cNvPr id="23" name="Risk chip 5"/>
          <p:cNvSpPr/>
          <p:nvPr/>
        </p:nvSpPr>
        <p:spPr>
          <a:xfrm>
            <a:off x="457200" y="3913632"/>
            <a:ext cx="2926080" cy="530352"/>
          </a:xfrm>
          <a:prstGeom prst="roundRect">
            <a:avLst>
              <a:gd name="adj" fmla="val 20690"/>
            </a:avLst>
          </a:prstGeom>
          <a:solidFill>
            <a:srgbClr val="0B3C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Risk text 5"/>
          <p:cNvSpPr txBox="1"/>
          <p:nvPr/>
        </p:nvSpPr>
        <p:spPr>
          <a:xfrm>
            <a:off x="640080" y="391363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Incomplete closeout</a:t>
            </a:r>
            <a:endParaRPr lang="en-US" sz="1400" dirty="0"/>
          </a:p>
        </p:txBody>
      </p:sp>
      <p:pic>
        <p:nvPicPr>
          <p:cNvPr id="25" name="Arrow 5" descr="leads 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4069080"/>
            <a:ext cx="219456" cy="219456"/>
          </a:xfrm>
          <a:prstGeom prst="rect">
            <a:avLst/>
          </a:prstGeom>
        </p:spPr>
      </p:pic>
      <p:sp>
        <p:nvSpPr>
          <p:cNvPr id="26" name="Control card 5"/>
          <p:cNvSpPr/>
          <p:nvPr/>
        </p:nvSpPr>
        <p:spPr>
          <a:xfrm>
            <a:off x="3931920" y="3913632"/>
            <a:ext cx="4754880" cy="530352"/>
          </a:xfrm>
          <a:prstGeom prst="roundRect">
            <a:avLst>
              <a:gd name="adj" fmla="val 20690"/>
            </a:avLst>
          </a:prstGeom>
          <a:solidFill>
            <a:srgbClr val="EA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Control text 5"/>
          <p:cNvSpPr txBox="1"/>
          <p:nvPr/>
        </p:nvSpPr>
        <p:spPr>
          <a:xfrm>
            <a:off x="4114800" y="3913632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 a departure checklist and request participant feedback.</a:t>
            </a:r>
            <a:endParaRPr lang="en-US" sz="1400" dirty="0"/>
          </a:p>
        </p:txBody>
      </p:sp>
      <p:sp>
        <p:nvSpPr>
          <p:cNvPr id="28" name="Column risk"/>
          <p:cNvSpPr txBox="1"/>
          <p:nvPr/>
        </p:nvSpPr>
        <p:spPr>
          <a:xfrm>
            <a:off x="457200" y="11704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6"/>
                </a:solidFill>
              </a:rPr>
              <a:t>RISK</a:t>
            </a:r>
            <a:endParaRPr lang="en-US" sz="1100" dirty="0"/>
          </a:p>
        </p:txBody>
      </p:sp>
      <p:sp>
        <p:nvSpPr>
          <p:cNvPr id="29" name="Column control"/>
          <p:cNvSpPr txBox="1"/>
          <p:nvPr/>
        </p:nvSpPr>
        <p:spPr>
          <a:xfrm>
            <a:off x="3931920" y="11704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6"/>
                </a:solidFill>
              </a:rPr>
              <a:t>SUGGESTED CONTROL</a:t>
            </a:r>
            <a:endParaRPr lang="en-US" sz="11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Reported outcomes and skills demonstrated</a:t>
            </a:r>
            <a:endParaRPr lang="en-US" sz="2600" dirty="0"/>
          </a:p>
        </p:txBody>
      </p:sp>
      <p:sp>
        <p:nvSpPr>
          <p:cNvPr id="3" name="Card outcomes"/>
          <p:cNvSpPr/>
          <p:nvPr/>
        </p:nvSpPr>
        <p:spPr>
          <a:xfrm>
            <a:off x="457200" y="1188720"/>
            <a:ext cx="4206240" cy="2926080"/>
          </a:xfrm>
          <a:prstGeom prst="roundRect">
            <a:avLst>
              <a:gd name="adj" fmla="val 3750"/>
            </a:avLst>
          </a:prstGeom>
          <a:solidFill>
            <a:srgbClr val="EAF1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Heading outcomes"/>
          <p:cNvSpPr txBox="1"/>
          <p:nvPr/>
        </p:nvSpPr>
        <p:spPr>
          <a:xfrm>
            <a:off x="73152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Reported outcomes</a:t>
            </a:r>
            <a:endParaRPr lang="en-US" sz="1800" dirty="0"/>
          </a:p>
        </p:txBody>
      </p:sp>
      <p:sp>
        <p:nvSpPr>
          <p:cNvPr id="5" name="Outcome 1 circle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0F6B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Outcome 1 icon" descr="Outcom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034540"/>
            <a:ext cx="228600" cy="228600"/>
          </a:xfrm>
          <a:prstGeom prst="rect">
            <a:avLst/>
          </a:prstGeom>
        </p:spPr>
      </p:pic>
      <p:sp>
        <p:nvSpPr>
          <p:cNvPr id="7" name="Outcome text 1"/>
          <p:cNvSpPr txBox="1"/>
          <p:nvPr/>
        </p:nvSpPr>
        <p:spPr>
          <a:xfrm>
            <a:off x="1371600" y="1874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Managed three hosting cycles.</a:t>
            </a:r>
            <a:endParaRPr lang="en-US" sz="1400" dirty="0"/>
          </a:p>
        </p:txBody>
      </p:sp>
      <p:sp>
        <p:nvSpPr>
          <p:cNvPr id="8" name="Outcome 2 circle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F6B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Outcome 2 icon" descr="Outcom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766060"/>
            <a:ext cx="228600" cy="228600"/>
          </a:xfrm>
          <a:prstGeom prst="rect">
            <a:avLst/>
          </a:prstGeom>
        </p:spPr>
      </p:pic>
      <p:sp>
        <p:nvSpPr>
          <p:cNvPr id="10" name="Outcome text 2"/>
          <p:cNvSpPr txBox="1"/>
          <p:nvPr/>
        </p:nvSpPr>
        <p:spPr>
          <a:xfrm>
            <a:off x="137160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Supported five Fellows, with three in the final cycle.</a:t>
            </a:r>
            <a:endParaRPr lang="en-US" sz="1400" dirty="0"/>
          </a:p>
        </p:txBody>
      </p:sp>
      <p:sp>
        <p:nvSpPr>
          <p:cNvPr id="11" name="Outcome 3 circle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Outcome 3 icon" descr="Outcom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3497580"/>
            <a:ext cx="228600" cy="228600"/>
          </a:xfrm>
          <a:prstGeom prst="rect">
            <a:avLst/>
          </a:prstGeom>
        </p:spPr>
      </p:pic>
      <p:sp>
        <p:nvSpPr>
          <p:cNvPr id="13" name="Outcome text 3"/>
          <p:cNvSpPr txBox="1"/>
          <p:nvPr/>
        </p:nvSpPr>
        <p:spPr>
          <a:xfrm>
            <a:off x="1371600" y="3337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participating Fellow later secured external funding.</a:t>
            </a:r>
            <a:endParaRPr lang="en-US" sz="1400" dirty="0"/>
          </a:p>
        </p:txBody>
      </p:sp>
      <p:sp>
        <p:nvSpPr>
          <p:cNvPr id="14" name="Card skills"/>
          <p:cNvSpPr/>
          <p:nvPr/>
        </p:nvSpPr>
        <p:spPr>
          <a:xfrm>
            <a:off x="4846320" y="1188720"/>
            <a:ext cx="3840480" cy="2926080"/>
          </a:xfrm>
          <a:prstGeom prst="roundRect">
            <a:avLst>
              <a:gd name="adj" fmla="val 3750"/>
            </a:avLst>
          </a:prstGeom>
          <a:solidFill>
            <a:srgbClr val="0B3C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Heading skills"/>
          <p:cNvSpPr txBox="1"/>
          <p:nvPr/>
        </p:nvSpPr>
        <p:spPr>
          <a:xfrm>
            <a:off x="5120640" y="1325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Skills demonstrated</a:t>
            </a:r>
            <a:endParaRPr lang="en-US" sz="1800" dirty="0"/>
          </a:p>
        </p:txBody>
      </p:sp>
      <p:sp>
        <p:nvSpPr>
          <p:cNvPr id="16" name="Skill pill 1"/>
          <p:cNvSpPr/>
          <p:nvPr/>
        </p:nvSpPr>
        <p:spPr>
          <a:xfrm>
            <a:off x="5120640" y="1874520"/>
            <a:ext cx="3291840" cy="420624"/>
          </a:xfrm>
          <a:prstGeom prst="roundRect">
            <a:avLst>
              <a:gd name="adj" fmla="val 26087"/>
            </a:avLst>
          </a:prstGeom>
          <a:solidFill>
            <a:srgbClr val="1450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kill text 1"/>
          <p:cNvSpPr txBox="1"/>
          <p:nvPr/>
        </p:nvSpPr>
        <p:spPr>
          <a:xfrm>
            <a:off x="5303520" y="187452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International program management</a:t>
            </a:r>
            <a:endParaRPr lang="en-US" sz="1400" dirty="0"/>
          </a:p>
        </p:txBody>
      </p:sp>
      <p:sp>
        <p:nvSpPr>
          <p:cNvPr id="18" name="Skill pill 2"/>
          <p:cNvSpPr/>
          <p:nvPr/>
        </p:nvSpPr>
        <p:spPr>
          <a:xfrm>
            <a:off x="5120640" y="2404872"/>
            <a:ext cx="3291840" cy="420624"/>
          </a:xfrm>
          <a:prstGeom prst="roundRect">
            <a:avLst>
              <a:gd name="adj" fmla="val 26087"/>
            </a:avLst>
          </a:prstGeom>
          <a:solidFill>
            <a:srgbClr val="1450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kill text 2"/>
          <p:cNvSpPr txBox="1"/>
          <p:nvPr/>
        </p:nvSpPr>
        <p:spPr>
          <a:xfrm>
            <a:off x="5303520" y="240487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IREX and stakeholder coordination</a:t>
            </a:r>
            <a:endParaRPr lang="en-US" sz="1400" dirty="0"/>
          </a:p>
        </p:txBody>
      </p:sp>
      <p:sp>
        <p:nvSpPr>
          <p:cNvPr id="20" name="Skill pill 3"/>
          <p:cNvSpPr/>
          <p:nvPr/>
        </p:nvSpPr>
        <p:spPr>
          <a:xfrm>
            <a:off x="5120640" y="2935224"/>
            <a:ext cx="3291840" cy="420624"/>
          </a:xfrm>
          <a:prstGeom prst="roundRect">
            <a:avLst>
              <a:gd name="adj" fmla="val 26087"/>
            </a:avLst>
          </a:prstGeom>
          <a:solidFill>
            <a:srgbClr val="1450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kill text 3"/>
          <p:cNvSpPr txBox="1"/>
          <p:nvPr/>
        </p:nvSpPr>
        <p:spPr>
          <a:xfrm>
            <a:off x="5303520" y="293522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Participant selection and onboarding</a:t>
            </a:r>
            <a:endParaRPr lang="en-US" sz="1400" dirty="0"/>
          </a:p>
        </p:txBody>
      </p:sp>
      <p:sp>
        <p:nvSpPr>
          <p:cNvPr id="22" name="Skill pill 4"/>
          <p:cNvSpPr/>
          <p:nvPr/>
        </p:nvSpPr>
        <p:spPr>
          <a:xfrm>
            <a:off x="5120640" y="3465576"/>
            <a:ext cx="3291840" cy="420624"/>
          </a:xfrm>
          <a:prstGeom prst="roundRect">
            <a:avLst>
              <a:gd name="adj" fmla="val 26087"/>
            </a:avLst>
          </a:prstGeom>
          <a:solidFill>
            <a:srgbClr val="1450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kill text 4"/>
          <p:cNvSpPr txBox="1"/>
          <p:nvPr/>
        </p:nvSpPr>
        <p:spPr>
          <a:xfrm>
            <a:off x="5303520" y="346557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Travel and placement coordination</a:t>
            </a:r>
            <a:endParaRPr lang="en-US" sz="1400" dirty="0"/>
          </a:p>
        </p:txBody>
      </p:sp>
      <p:sp>
        <p:nvSpPr>
          <p:cNvPr id="24" name="Footnote"/>
          <p:cNvSpPr txBox="1"/>
          <p:nvPr/>
        </p:nvSpPr>
        <p:spPr>
          <a:xfrm>
            <a:off x="457200" y="4251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Funding outcome: Agnes identified the funder as “Afro Black Foundation.” Award details were not supplied, and a causal link to BDI is not established.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</a:rPr>
              <a:t>Sources and evidence notes</a:t>
            </a:r>
            <a:endParaRPr lang="en-US" sz="2600" dirty="0"/>
          </a:p>
        </p:txBody>
      </p:sp>
      <p:sp>
        <p:nvSpPr>
          <p:cNvPr id="3" name="Card evidence"/>
          <p:cNvSpPr/>
          <p:nvPr/>
        </p:nvSpPr>
        <p:spPr>
          <a:xfrm>
            <a:off x="457200" y="1188720"/>
            <a:ext cx="3749040" cy="2651760"/>
          </a:xfrm>
          <a:prstGeom prst="roundRect">
            <a:avLst>
              <a:gd name="adj" fmla="val 4138"/>
            </a:avLst>
          </a:prstGeom>
          <a:solidFill>
            <a:srgbClr val="1450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Heading evidence"/>
          <p:cNvSpPr txBox="1"/>
          <p:nvPr/>
        </p:nvSpPr>
        <p:spPr>
          <a:xfrm>
            <a:off x="731520" y="1325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Project evidence</a:t>
            </a:r>
            <a:endParaRPr lang="en-US" sz="1800" dirty="0"/>
          </a:p>
        </p:txBody>
      </p:sp>
      <p:sp>
        <p:nvSpPr>
          <p:cNvPr id="5" name="Body evidence"/>
          <p:cNvSpPr txBox="1"/>
          <p:nvPr/>
        </p:nvSpPr>
        <p:spPr>
          <a:xfrm>
            <a:off x="731520" y="18288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Agnes Iwaye’s account: BDI program manager, IREX selection partnership, three cycles with 1, 1 and 3 Fellows, travel support, orientation, placement coordination and one later funding outcome.</a:t>
            </a:r>
            <a:endParaRPr lang="en-US" sz="1400" dirty="0"/>
          </a:p>
        </p:txBody>
      </p:sp>
      <p:sp>
        <p:nvSpPr>
          <p:cNvPr id="6" name="Card sources"/>
          <p:cNvSpPr/>
          <p:nvPr/>
        </p:nvSpPr>
        <p:spPr>
          <a:xfrm>
            <a:off x="4389120" y="1188720"/>
            <a:ext cx="4297680" cy="2651760"/>
          </a:xfrm>
          <a:prstGeom prst="roundRect">
            <a:avLst>
              <a:gd name="adj" fmla="val 4138"/>
            </a:avLst>
          </a:prstGeom>
          <a:solidFill>
            <a:srgbClr val="1450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Heading sources"/>
          <p:cNvSpPr txBox="1"/>
          <p:nvPr/>
        </p:nvSpPr>
        <p:spPr>
          <a:xfrm>
            <a:off x="4663440" y="1325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Official program sources</a:t>
            </a:r>
            <a:endParaRPr lang="en-US" sz="1800" dirty="0"/>
          </a:p>
        </p:txBody>
      </p:sp>
      <p:sp>
        <p:nvSpPr>
          <p:cNvPr id="8" name="Source list"/>
          <p:cNvSpPr txBox="1"/>
          <p:nvPr/>
        </p:nvSpPr>
        <p:spPr>
          <a:xfrm>
            <a:off x="4663440" y="18288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mandelawashingtonfellowship.org/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u="sng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mandelawashingtonfellowship.org/about/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u="sng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mandelawashingtonfellowship.org/pde/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u="sng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2025 Fellows arrival announcement, June 23, 2025</a:t>
            </a:r>
            <a:endParaRPr lang="en-US" sz="1400" dirty="0"/>
          </a:p>
        </p:txBody>
      </p:sp>
      <p:sp>
        <p:nvSpPr>
          <p:cNvPr id="9" name="Footnote"/>
          <p:cNvSpPr txBox="1"/>
          <p:nvPr/>
        </p:nvSpPr>
        <p:spPr>
          <a:xfrm>
            <a:off x="457200" y="4114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bg2"/>
                </a:solidFill>
              </a:rPr>
              <a:t>Timeline, budget and suggested controls are illustrative. Cycle years and actual costs remain unconfirmed.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llowship Teal">
  <a:themeElements>
    <a:clrScheme name="Fellowship Teal">
      <a:dk1>
        <a:srgbClr val="10222B"/>
      </a:dk1>
      <a:lt1>
        <a:srgbClr val="FFFFFF"/>
      </a:lt1>
      <a:dk2>
        <a:srgbClr val="0B3C49"/>
      </a:dk2>
      <a:lt2>
        <a:srgbClr val="EAF1F1"/>
      </a:lt2>
      <a:accent1>
        <a:srgbClr val="0F6B73"/>
      </a:accent1>
      <a:accent2>
        <a:srgbClr val="E9A23B"/>
      </a:accent2>
      <a:accent3>
        <a:srgbClr val="C4572E"/>
      </a:accent3>
      <a:accent4>
        <a:srgbClr val="5B8C85"/>
      </a:accent4>
      <a:accent5>
        <a:srgbClr val="7A8C91"/>
      </a:accent5>
      <a:accent6>
        <a:srgbClr val="14505F"/>
      </a:accent6>
      <a:hlink>
        <a:srgbClr val="F2C777"/>
      </a:hlink>
      <a:folHlink>
        <a:srgbClr val="F2C777"/>
      </a:folHlink>
    </a:clrScheme>
    <a:fontScheme name="Fellowship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906</Words>
  <Application>Microsoft Macintosh PowerPoint</Application>
  <PresentationFormat>On-screen Show (16:9)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Fellowship Teal</vt:lpstr>
      <vt:lpstr>Mandela Washington Fellowship</vt:lpstr>
      <vt:lpstr>Program context and BDI’s scope</vt:lpstr>
      <vt:lpstr>The hosting challenge</vt:lpstr>
      <vt:lpstr>My responsibilities across the lifecycle</vt:lpstr>
      <vt:lpstr>Participation across three cycles</vt:lpstr>
      <vt:lpstr>Stakeholder coordination</vt:lpstr>
      <vt:lpstr>Illustrative timeline for one hosting cycle</vt:lpstr>
      <vt:lpstr>Suggested controls for future cycles</vt:lpstr>
      <vt:lpstr>Reported outcomes and skills demonstrated</vt:lpstr>
      <vt:lpstr>Sources and evidence notes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Mandela Washington Fellowship: International Program Management</dc:title>
  <dc:subject>PptxGenJS Presentation</dc:subject>
  <dc:creator>Agnes Iwaye</dc:creator>
  <cp:lastModifiedBy>Agnes Abiodun Iwaye</cp:lastModifiedBy>
  <cp:revision>2</cp:revision>
  <dcterms:created xsi:type="dcterms:W3CDTF">2026-10-06T04:45:55Z</dcterms:created>
  <dcterms:modified xsi:type="dcterms:W3CDTF">2026-10-06T14:56:38Z</dcterms:modified>
</cp:coreProperties>
</file>